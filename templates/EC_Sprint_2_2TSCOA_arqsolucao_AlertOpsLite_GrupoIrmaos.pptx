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5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flat">
              <a:solidFill>
                <a:srgbClr val="0EA5A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A4"/>
              </a:solidFill>
              <a:ln w="9525" cap="flat">
                <a:solidFill>
                  <a:srgbClr val="4338CA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-3300000"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Sheet1!$A$2:$A$37</c:f>
              <c:strCache>
                <c:ptCount val="36"/>
                <c:pt idx="0">
                  <c:v>23/01</c:v>
                </c:pt>
                <c:pt idx="1">
                  <c:v>23/02</c:v>
                </c:pt>
                <c:pt idx="2">
                  <c:v>23/03</c:v>
                </c:pt>
                <c:pt idx="3">
                  <c:v>23/04</c:v>
                </c:pt>
                <c:pt idx="4">
                  <c:v>23/05</c:v>
                </c:pt>
                <c:pt idx="5">
                  <c:v>23/06</c:v>
                </c:pt>
                <c:pt idx="6">
                  <c:v>23/07</c:v>
                </c:pt>
                <c:pt idx="7">
                  <c:v>23/08</c:v>
                </c:pt>
                <c:pt idx="8">
                  <c:v>23/09</c:v>
                </c:pt>
                <c:pt idx="9">
                  <c:v>23/10</c:v>
                </c:pt>
                <c:pt idx="10">
                  <c:v>23/11</c:v>
                </c:pt>
                <c:pt idx="11">
                  <c:v>23/12</c:v>
                </c:pt>
                <c:pt idx="12">
                  <c:v>24/01</c:v>
                </c:pt>
                <c:pt idx="13">
                  <c:v>24/02</c:v>
                </c:pt>
                <c:pt idx="14">
                  <c:v>24/03</c:v>
                </c:pt>
                <c:pt idx="15">
                  <c:v>24/04</c:v>
                </c:pt>
                <c:pt idx="16">
                  <c:v>24/05</c:v>
                </c:pt>
                <c:pt idx="17">
                  <c:v>24/06</c:v>
                </c:pt>
                <c:pt idx="18">
                  <c:v>24/07</c:v>
                </c:pt>
                <c:pt idx="19">
                  <c:v>24/08</c:v>
                </c:pt>
                <c:pt idx="20">
                  <c:v>24/09</c:v>
                </c:pt>
                <c:pt idx="21">
                  <c:v>24/10</c:v>
                </c:pt>
                <c:pt idx="22">
                  <c:v>24/11</c:v>
                </c:pt>
                <c:pt idx="23">
                  <c:v>24/12</c:v>
                </c:pt>
                <c:pt idx="24">
                  <c:v>25/01</c:v>
                </c:pt>
                <c:pt idx="25">
                  <c:v>25/02</c:v>
                </c:pt>
                <c:pt idx="26">
                  <c:v>25/03</c:v>
                </c:pt>
                <c:pt idx="27">
                  <c:v>25/04</c:v>
                </c:pt>
                <c:pt idx="28">
                  <c:v>25/05</c:v>
                </c:pt>
                <c:pt idx="29">
                  <c:v>25/06</c:v>
                </c:pt>
                <c:pt idx="30">
                  <c:v>25/07</c:v>
                </c:pt>
                <c:pt idx="31">
                  <c:v>25/08</c:v>
                </c:pt>
                <c:pt idx="32">
                  <c:v>25/09</c:v>
                </c:pt>
                <c:pt idx="33">
                  <c:v>25/10</c:v>
                </c:pt>
                <c:pt idx="34">
                  <c:v>25/11</c:v>
                </c:pt>
                <c:pt idx="35">
                  <c:v>25/12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12</c:v>
                </c:pt>
                <c:pt idx="1">
                  <c:v>7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  <c:pt idx="5">
                  <c:v>2</c:v>
                </c:pt>
                <c:pt idx="6">
                  <c:v>6</c:v>
                </c:pt>
                <c:pt idx="7">
                  <c:v>6</c:v>
                </c:pt>
                <c:pt idx="8">
                  <c:v>14</c:v>
                </c:pt>
                <c:pt idx="9">
                  <c:v>21</c:v>
                </c:pt>
                <c:pt idx="10">
                  <c:v>13</c:v>
                </c:pt>
                <c:pt idx="11">
                  <c:v>8</c:v>
                </c:pt>
                <c:pt idx="12">
                  <c:v>7</c:v>
                </c:pt>
                <c:pt idx="13">
                  <c:v>12</c:v>
                </c:pt>
                <c:pt idx="14">
                  <c:v>32</c:v>
                </c:pt>
                <c:pt idx="15">
                  <c:v>26</c:v>
                </c:pt>
                <c:pt idx="16">
                  <c:v>16</c:v>
                </c:pt>
                <c:pt idx="17">
                  <c:v>16</c:v>
                </c:pt>
                <c:pt idx="18">
                  <c:v>44</c:v>
                </c:pt>
                <c:pt idx="19">
                  <c:v>39</c:v>
                </c:pt>
                <c:pt idx="20">
                  <c:v>34</c:v>
                </c:pt>
                <c:pt idx="21">
                  <c:v>50</c:v>
                </c:pt>
                <c:pt idx="22">
                  <c:v>75</c:v>
                </c:pt>
                <c:pt idx="23">
                  <c:v>271</c:v>
                </c:pt>
                <c:pt idx="24">
                  <c:v>3714</c:v>
                </c:pt>
                <c:pt idx="25">
                  <c:v>3553</c:v>
                </c:pt>
                <c:pt idx="26">
                  <c:v>3588</c:v>
                </c:pt>
                <c:pt idx="27">
                  <c:v>3202</c:v>
                </c:pt>
                <c:pt idx="28">
                  <c:v>3329</c:v>
                </c:pt>
                <c:pt idx="29">
                  <c:v>3558</c:v>
                </c:pt>
                <c:pt idx="30">
                  <c:v>3448</c:v>
                </c:pt>
                <c:pt idx="31">
                  <c:v>3996</c:v>
                </c:pt>
                <c:pt idx="32">
                  <c:v>21561</c:v>
                </c:pt>
                <c:pt idx="33">
                  <c:v>23017</c:v>
                </c:pt>
                <c:pt idx="34">
                  <c:v>21524</c:v>
                </c:pt>
                <c:pt idx="35">
                  <c:v>27321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DA-41B7-BC90-9D5B494FD7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>
              <a:solidFill>
                <a:srgbClr val="0EA5A4"/>
              </a:solidFill>
            </a:ln>
          </c:spPr>
        </c:dropLine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0EA5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236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
Baixa</c:v>
                </c:pt>
                <c:pt idx="1">
                  <c:v>3
Média</c:v>
                </c:pt>
                <c:pt idx="2">
                  <c:v>2
Alta</c:v>
                </c:pt>
                <c:pt idx="3">
                  <c:v>5
Muito Baixa</c:v>
                </c:pt>
                <c:pt idx="4">
                  <c:v>1
Crítica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64828</c:v>
                </c:pt>
                <c:pt idx="1">
                  <c:v>41732</c:v>
                </c:pt>
                <c:pt idx="2">
                  <c:v>15649</c:v>
                </c:pt>
                <c:pt idx="3">
                  <c:v>333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7A-41C9-BD37-F2D7804478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0EA5A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Seg</c:v>
                </c:pt>
                <c:pt idx="1">
                  <c:v>Ter</c:v>
                </c:pt>
                <c:pt idx="2">
                  <c:v>Qua</c:v>
                </c:pt>
                <c:pt idx="3">
                  <c:v>Qui</c:v>
                </c:pt>
                <c:pt idx="4">
                  <c:v>Sex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19070</c:v>
                </c:pt>
                <c:pt idx="1">
                  <c:v>19482</c:v>
                </c:pt>
                <c:pt idx="2">
                  <c:v>19964</c:v>
                </c:pt>
                <c:pt idx="3">
                  <c:v>18806</c:v>
                </c:pt>
                <c:pt idx="4">
                  <c:v>18170</c:v>
                </c:pt>
                <c:pt idx="5">
                  <c:v>14432</c:v>
                </c:pt>
                <c:pt idx="6">
                  <c:v>12619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FF-41E0-935B-DA77B446FC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8EF-495B-87F4-C3A1B62AAD54}"/>
              </c:ext>
            </c:extLst>
          </c:dPt>
          <c:dPt>
            <c:idx val="1"/>
            <c:bubble3D val="0"/>
            <c:spPr>
              <a:solidFill>
                <a:srgbClr val="E859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EF-495B-87F4-C3A1B62AAD54}"/>
              </c:ext>
            </c:extLst>
          </c:dPt>
          <c:cat>
            <c:strRef>
              <c:f>Sheet1!$A$2:$A$3</c:f>
              <c:strCache>
                <c:ptCount val="2"/>
                <c:pt idx="0">
                  <c:v>Cumpriram OLA</c:v>
                </c:pt>
                <c:pt idx="1">
                  <c:v>Violaram OLA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25352</c:v>
                </c:pt>
                <c:pt idx="1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EF-495B-87F4-C3A1B62AA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Histórico</c:v>
                </c:pt>
              </c:strCache>
            </c:strRef>
          </c:tx>
          <c:spPr>
            <a:ln w="28575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1500000"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Sheet1!$A$2:$A$29</c:f>
              <c:strCache>
                <c:ptCount val="28"/>
                <c:pt idx="0">
                  <c:v>D-20</c:v>
                </c:pt>
                <c:pt idx="1">
                  <c:v>D-19</c:v>
                </c:pt>
                <c:pt idx="2">
                  <c:v>D-18</c:v>
                </c:pt>
                <c:pt idx="3">
                  <c:v>D-17</c:v>
                </c:pt>
                <c:pt idx="4">
                  <c:v>D-16</c:v>
                </c:pt>
                <c:pt idx="5">
                  <c:v>D-15</c:v>
                </c:pt>
                <c:pt idx="6">
                  <c:v>D-14</c:v>
                </c:pt>
                <c:pt idx="7">
                  <c:v>D-13</c:v>
                </c:pt>
                <c:pt idx="8">
                  <c:v>D-12</c:v>
                </c:pt>
                <c:pt idx="9">
                  <c:v>D-11</c:v>
                </c:pt>
                <c:pt idx="10">
                  <c:v>D-10</c:v>
                </c:pt>
                <c:pt idx="11">
                  <c:v>D-9</c:v>
                </c:pt>
                <c:pt idx="12">
                  <c:v>D-8</c:v>
                </c:pt>
                <c:pt idx="13">
                  <c:v>D-7</c:v>
                </c:pt>
                <c:pt idx="14">
                  <c:v>D-6</c:v>
                </c:pt>
                <c:pt idx="15">
                  <c:v>D-5</c:v>
                </c:pt>
                <c:pt idx="16">
                  <c:v>D-4</c:v>
                </c:pt>
                <c:pt idx="17">
                  <c:v>D-3</c:v>
                </c:pt>
                <c:pt idx="18">
                  <c:v>D-2</c:v>
                </c:pt>
                <c:pt idx="19">
                  <c:v>D-1</c:v>
                </c:pt>
                <c:pt idx="20">
                  <c:v>hoje</c:v>
                </c:pt>
                <c:pt idx="21">
                  <c:v>D1</c:v>
                </c:pt>
                <c:pt idx="22">
                  <c:v>D2</c:v>
                </c:pt>
                <c:pt idx="23">
                  <c:v>D3</c:v>
                </c:pt>
                <c:pt idx="24">
                  <c:v>D4</c:v>
                </c:pt>
                <c:pt idx="25">
                  <c:v>D5</c:v>
                </c:pt>
                <c:pt idx="26">
                  <c:v>D6</c:v>
                </c:pt>
                <c:pt idx="27">
                  <c:v>D7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933</c:v>
                </c:pt>
                <c:pt idx="1">
                  <c:v>972</c:v>
                </c:pt>
                <c:pt idx="2">
                  <c:v>1012</c:v>
                </c:pt>
                <c:pt idx="3">
                  <c:v>892</c:v>
                </c:pt>
                <c:pt idx="4">
                  <c:v>870</c:v>
                </c:pt>
                <c:pt idx="5">
                  <c:v>672</c:v>
                </c:pt>
                <c:pt idx="6">
                  <c:v>552</c:v>
                </c:pt>
                <c:pt idx="7">
                  <c:v>979</c:v>
                </c:pt>
                <c:pt idx="8">
                  <c:v>1018</c:v>
                </c:pt>
                <c:pt idx="9">
                  <c:v>1004</c:v>
                </c:pt>
                <c:pt idx="10">
                  <c:v>938</c:v>
                </c:pt>
                <c:pt idx="11">
                  <c:v>916</c:v>
                </c:pt>
                <c:pt idx="12">
                  <c:v>664</c:v>
                </c:pt>
                <c:pt idx="13">
                  <c:v>598</c:v>
                </c:pt>
                <c:pt idx="14">
                  <c:v>1025</c:v>
                </c:pt>
                <c:pt idx="15">
                  <c:v>1010</c:v>
                </c:pt>
                <c:pt idx="16">
                  <c:v>1050</c:v>
                </c:pt>
                <c:pt idx="17">
                  <c:v>984</c:v>
                </c:pt>
                <c:pt idx="18">
                  <c:v>908</c:v>
                </c:pt>
                <c:pt idx="19">
                  <c:v>710</c:v>
                </c:pt>
                <c:pt idx="20">
                  <c:v>644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509-474D-A580-6C081D3B6C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Projeção (D+1..D+7)</c:v>
                </c:pt>
              </c:strCache>
            </c:strRef>
          </c:tx>
          <c:spPr>
            <a:ln w="28575" cap="flat">
              <a:solidFill>
                <a:srgbClr val="92223A"/>
              </a:solidFill>
              <a:prstDash val="solid"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1500000" vertOverflow="overflow" horzOverflow="overflow" vert="horz">
                <a:normAutofit/>
              </a:bodyPr>
              <a:lstStyle/>
              <a:p>
                <a:pPr>
                  <a:defRPr sz="1200" b="0" i="0" u="none" strike="noStrike">
                    <a:ln>
                      <a:noFill/>
                    </a:ln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Sheet1!$A$2:$A$29</c:f>
              <c:strCache>
                <c:ptCount val="28"/>
                <c:pt idx="0">
                  <c:v>D-20</c:v>
                </c:pt>
                <c:pt idx="1">
                  <c:v>D-19</c:v>
                </c:pt>
                <c:pt idx="2">
                  <c:v>D-18</c:v>
                </c:pt>
                <c:pt idx="3">
                  <c:v>D-17</c:v>
                </c:pt>
                <c:pt idx="4">
                  <c:v>D-16</c:v>
                </c:pt>
                <c:pt idx="5">
                  <c:v>D-15</c:v>
                </c:pt>
                <c:pt idx="6">
                  <c:v>D-14</c:v>
                </c:pt>
                <c:pt idx="7">
                  <c:v>D-13</c:v>
                </c:pt>
                <c:pt idx="8">
                  <c:v>D-12</c:v>
                </c:pt>
                <c:pt idx="9">
                  <c:v>D-11</c:v>
                </c:pt>
                <c:pt idx="10">
                  <c:v>D-10</c:v>
                </c:pt>
                <c:pt idx="11">
                  <c:v>D-9</c:v>
                </c:pt>
                <c:pt idx="12">
                  <c:v>D-8</c:v>
                </c:pt>
                <c:pt idx="13">
                  <c:v>D-7</c:v>
                </c:pt>
                <c:pt idx="14">
                  <c:v>D-6</c:v>
                </c:pt>
                <c:pt idx="15">
                  <c:v>D-5</c:v>
                </c:pt>
                <c:pt idx="16">
                  <c:v>D-4</c:v>
                </c:pt>
                <c:pt idx="17">
                  <c:v>D-3</c:v>
                </c:pt>
                <c:pt idx="18">
                  <c:v>D-2</c:v>
                </c:pt>
                <c:pt idx="19">
                  <c:v>D-1</c:v>
                </c:pt>
                <c:pt idx="20">
                  <c:v>hoje</c:v>
                </c:pt>
                <c:pt idx="21">
                  <c:v>D1</c:v>
                </c:pt>
                <c:pt idx="22">
                  <c:v>D2</c:v>
                </c:pt>
                <c:pt idx="23">
                  <c:v>D3</c:v>
                </c:pt>
                <c:pt idx="24">
                  <c:v>D4</c:v>
                </c:pt>
                <c:pt idx="25">
                  <c:v>D5</c:v>
                </c:pt>
                <c:pt idx="26">
                  <c:v>D6</c:v>
                </c:pt>
                <c:pt idx="27">
                  <c:v>D7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21">
                  <c:v>1017</c:v>
                </c:pt>
                <c:pt idx="22">
                  <c:v>1056</c:v>
                </c:pt>
                <c:pt idx="23">
                  <c:v>1096</c:v>
                </c:pt>
                <c:pt idx="24">
                  <c:v>976</c:v>
                </c:pt>
                <c:pt idx="25">
                  <c:v>954</c:v>
                </c:pt>
                <c:pt idx="26">
                  <c:v>756</c:v>
                </c:pt>
                <c:pt idx="27">
                  <c:v>636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509-474D-A580-6C081D3B6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0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236"/>
                </a:solidFill>
                <a:latin typeface="Trebuchet MS"/>
              </a:defRPr>
            </a:pPr>
            <a:r>
              <a:rPr lang="it-IT" sz="1000" b="0" i="0" u="none" strike="noStrike">
                <a:solidFill>
                  <a:srgbClr val="1E2236"/>
                </a:solidFill>
                <a:latin typeface="Trebuchet MS"/>
              </a:rPr>
              <a:t>Volume previsto (D+1..D+14)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previsto</c:v>
                </c:pt>
              </c:strCache>
            </c:strRef>
          </c:tx>
          <c:spPr>
            <a:solidFill>
              <a:srgbClr val="4338CA">
                <a:alpha val="35000"/>
              </a:srgbClr>
            </a:solidFill>
            <a:effectLst/>
          </c:spP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800</c:v>
                </c:pt>
                <c:pt idx="1">
                  <c:v>870</c:v>
                </c:pt>
                <c:pt idx="2">
                  <c:v>940</c:v>
                </c:pt>
                <c:pt idx="3">
                  <c:v>890</c:v>
                </c:pt>
                <c:pt idx="4">
                  <c:v>960</c:v>
                </c:pt>
                <c:pt idx="5">
                  <c:v>1030</c:v>
                </c:pt>
                <c:pt idx="6">
                  <c:v>980</c:v>
                </c:pt>
                <c:pt idx="7">
                  <c:v>1050</c:v>
                </c:pt>
                <c:pt idx="8">
                  <c:v>1120</c:v>
                </c:pt>
                <c:pt idx="9">
                  <c:v>1070</c:v>
                </c:pt>
                <c:pt idx="10">
                  <c:v>1140</c:v>
                </c:pt>
                <c:pt idx="11">
                  <c:v>1210</c:v>
                </c:pt>
                <c:pt idx="12">
                  <c:v>1160</c:v>
                </c:pt>
                <c:pt idx="13">
                  <c:v>1230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C9-4C6C-9D70-730643CB3D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majorGridlines>
          <c:spPr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2">
                      <a:lumMod val="40000"/>
                      <a:lumOff val="60000"/>
                    </a:schemeClr>
                  </a:gs>
                  <a:gs pos="83000">
                    <a:schemeClr val="tx2">
                      <a:lumMod val="60000"/>
                      <a:lumOff val="4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236"/>
                </a:solidFill>
                <a:latin typeface="Trebuchet MS"/>
              </a:defRPr>
            </a:pPr>
            <a:r>
              <a:rPr lang="pt-BR" sz="1000" b="0" i="0" u="none" strike="noStrike">
                <a:solidFill>
                  <a:srgbClr val="1E2236"/>
                </a:solidFill>
                <a:latin typeface="Trebuchet MS"/>
              </a:rPr>
              <a:t>Risco por equipe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Risco</c:v>
                </c:pt>
              </c:strCache>
            </c:strRef>
          </c:tx>
          <c:spPr>
            <a:solidFill>
              <a:srgbClr val="F232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23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Team14</c:v>
                </c:pt>
                <c:pt idx="1">
                  <c:v>Team11</c:v>
                </c:pt>
                <c:pt idx="2">
                  <c:v>Team05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24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79-4DA8-8687-345A12C42B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138E9-6E96-4857-9250-06A0E8ED2478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64959-9CF8-4642-A5EA-A5BF39A9D0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22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EBF83-2D30-B215-E97D-C5DA1E098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BEB888-9ED6-5677-8562-72DD012FD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5CD5C5-E3AF-D8F6-4137-A6446C22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22B64-8F6F-8F24-53A9-F9CD7C64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EF23C7-6BAC-5FBB-6E41-282CCEC0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5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0B0DB-0D9E-A429-649D-ACEC1344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8C68B7-1323-946C-C6EA-B48DF556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E52FFB-D8C9-88D1-9BD7-DB9EB869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1086EC-FF9F-3BD4-93EE-5883406A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E2C88B-98C6-A5FC-A56D-9ACF0E56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25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3F903-B4E8-5C3E-1B20-2D82600C8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DD48AC-C022-496B-DFE0-FB0FBC7A1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64DA14-7A0E-F9CB-274D-98EEAF94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D5A887-622B-5BEB-A7AC-ADB1A2E3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BE3C2F-52F9-90A8-0A43-4461B290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63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0B8FB-BE41-16E4-7A29-6B394223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39B6D5-2969-D425-F886-817BDF2E4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6859D2-17E8-0F19-3F6C-AEBAE6CD4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99BB78-50A4-0EB8-8BDC-D4E92AEE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6F0736-4D08-C941-9F2C-B001CD299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885A3E-6FA3-B842-AF2D-B9AB9BC0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45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D67C3-C8F4-B058-53AC-E1021134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C074AB-E037-F2BD-5322-09B18C46F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1F17BE-556D-8F3B-B819-EF4D7FE24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B10E5-0189-554B-7CA7-6C568D669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CAA5F5-A0FD-0320-2048-E0A67B2F1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223904-EE5D-C34B-70D3-E8953D0E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E4D8671-102F-14B2-D561-65B94ECA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971DFF-3716-59CB-367B-41910056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97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35E01-190E-0284-594F-5D05EB4B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9B97E9-73C2-F456-3C48-2AE35058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B2DFC8-C459-F66B-5E9E-614614A6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820C112-BCD2-13DF-A519-44102F30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45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E5C622F-C29C-AD9A-E3D6-DFD51481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0F6C48-D599-777B-43FB-E6733AAB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A065A8-84E9-D06E-4EA6-2F66C37E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96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7F9B1-08C5-63D5-1AE4-2EB663463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3491F5-A13C-3219-8995-AEE4F96CE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EA14C8-D2BB-775B-803E-4DED231B7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DBDB31-FCF9-50B8-A03E-849818EB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F99AB6-E946-623A-5557-6442C747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F2A41A-91BE-D640-D94A-27CEF0C8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32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E9C96-AFFA-EE73-67C6-35BB800D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11084C-8BCC-6353-7684-AF00CECA3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BCF44F-A81F-4241-3AA0-6F27844D1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FFE0F2-DAA0-4AF6-13C0-455A986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C366B0-F33F-EF4A-F2A3-D3FB4289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83644E-F7C9-DD54-7E8A-0CA93CE0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12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D7A10-E528-6A6D-ED3B-FB00154E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068680-9EEF-0875-77F2-107CCB161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3FA9C6-98CC-4F70-C370-3DB7B927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B142B-DC29-F63B-5D46-846914E6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9EAB1C-BD21-44E1-27BF-F25BC651A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64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922759-8283-FE8D-5B26-A60229552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B37AB3-1B10-C077-3AA4-4D257E555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3E8DEF-0527-BFAB-6B6E-D8E265D7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F15358-A9A6-91A3-2C71-40706956F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935266-BA64-58BE-5CEA-213AAC8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655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1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A3A23D-62B9-817A-38A7-35C28702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49CC44-015C-C1F9-C997-6018F1938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B6CE96-52AD-F8D5-D6B1-ECC91FDE7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159F3-4AD3-4753-A0F4-C2179778ED8B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2700D4-2304-D9CE-6C33-0A3CC1F59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1B5CAB-1664-23E4-4FFC-794BCFB5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9ABAA-5AE9-402F-AFEB-EA395D4F9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58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152E"/>
            </a:gs>
            <a:gs pos="57000">
              <a:schemeClr val="tx2">
                <a:lumMod val="50000"/>
              </a:schemeClr>
            </a:gs>
            <a:gs pos="100000">
              <a:srgbClr val="1215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338C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743200" cy="274320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8680" y="1234440"/>
            <a:ext cx="566928" cy="56692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2296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AlertOpsLite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6868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incidentes operacionais com AIOps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3611880"/>
            <a:ext cx="429768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r>
              <a:rPr lang="en-US" sz="1600" dirty="0">
                <a:solidFill>
                  <a:srgbClr val="A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Arquitetura, desenho e protótipos da solução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Locaweb · FIAP   |   Turma 2TSCOA   |   Grupo: grupo_irmaos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892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(ordem alfabética)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Machado — RM566099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Machado — RM564991</a:t>
            </a:r>
            <a:endParaRPr lang="en-US" sz="13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991F3EA4-3840-F73E-5C04-EDF3585D1F22}"/>
              </a:ext>
            </a:extLst>
          </p:cNvPr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4338CA">
                  <a:shade val="30000"/>
                  <a:satMod val="115000"/>
                </a:srgbClr>
              </a:gs>
              <a:gs pos="50000">
                <a:srgbClr val="4338CA">
                  <a:shade val="67500"/>
                  <a:satMod val="115000"/>
                </a:srgbClr>
              </a:gs>
              <a:gs pos="100000">
                <a:srgbClr val="4338CA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Contextualização do desafio</a:t>
            </a:r>
            <a:endParaRPr lang="en-US" sz="2800" dirty="0">
              <a:solidFill>
                <a:srgbClr val="4338CA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Locaweb opera uma infraestrutura de tecnologia 24x7, onde a disponibilidade dos serviços é crítica para o negócio. Incidentes operacionais são registrados diariamente em plataforma de ITSM, classificados por prioridade, categoria, produto, equipe e tempo de atendimento.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proposto é de AIOps (Artificial Intelligence for IT Operations): transformar esse histórico operacional em inteligência preditiva, antecipando incidentes e identificando tendências antes que virem crises.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086600" y="16002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0" y="1874520"/>
            <a:ext cx="502920" cy="5029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00253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000" y="1801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Operação 24x7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01000" y="2167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é fator crítico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086600" y="27889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0" y="30632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319125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01000" y="2990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reativa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001000" y="3355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agem após o incidente ocorrer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086600" y="397764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0" y="425196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437997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0100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Pressão por OLA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001000" y="4544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nível operacional sob risco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F59E0B">
                  <a:shade val="30000"/>
                  <a:satMod val="115000"/>
                </a:srgbClr>
              </a:gs>
              <a:gs pos="50000">
                <a:srgbClr val="F59E0B">
                  <a:shade val="67500"/>
                  <a:satMod val="115000"/>
                </a:srgbClr>
              </a:gs>
              <a:gs pos="100000">
                <a:srgbClr val="F59E0B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a ser resolvido</a:t>
            </a:r>
            <a:endParaRPr lang="en-US" sz="2800" dirty="0">
              <a:solidFill>
                <a:srgbClr val="F59E0B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12152E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55448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"Como antecipar incidentes operacionais de forma simples e eficiente, antes que eles sobrecarreguem as equipes e quebrem os acordos de OLA?"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de incidentes hoje é majoritariamente reativa, o que gera: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3566160" cy="1618488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47472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35981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Sobrecarga das equipes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6868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imprevistos concentram chamados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70832" y="3246120"/>
            <a:ext cx="3566160" cy="1600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99432" y="347472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35981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9432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previsibilidade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99432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visão do que vem amanhã (D+1/D+7)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01584" y="3246120"/>
            <a:ext cx="3566160" cy="1600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30184" y="347472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5981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30184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Maior tempo de resposta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330184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violar OLA em P2 e P3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079616"/>
            <a:ext cx="11018520" cy="872836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14400" y="5079616"/>
            <a:ext cx="10469880" cy="872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122.543 </a:t>
            </a: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registrados em 3 anos  ·  </a:t>
            </a: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</a:t>
            </a: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originados por monitoramento automático  ·  </a:t>
            </a:r>
            <a:r>
              <a:rPr lang="en-US" sz="26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25.600 </a:t>
            </a: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 no cálculo de KPI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C55A11">
                  <a:shade val="30000"/>
                  <a:satMod val="115000"/>
                </a:srgbClr>
              </a:gs>
              <a:gs pos="50000">
                <a:srgbClr val="C55A11">
                  <a:shade val="67500"/>
                  <a:satMod val="115000"/>
                </a:srgbClr>
              </a:gs>
              <a:gs pos="100000">
                <a:srgbClr val="C55A11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Público-alvo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630168" cy="2450592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43684" y="2011680"/>
            <a:ext cx="822960" cy="82296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852" y="221284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718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Equipes de operações de TI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14400" y="352044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Atuam na linha de frente dos incidentes e precisam antecipar picos de demanda.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53128" y="1691640"/>
            <a:ext cx="3630168" cy="2450592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6732" y="2011680"/>
            <a:ext cx="822960" cy="82296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221284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6008" y="29718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Analistas de suporte técnico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727448" y="352044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 priorizar chamados e reduzir o tempo de resposta no dia a dia.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66176" y="1691640"/>
            <a:ext cx="3630168" cy="2450592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69780" y="20116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948" y="221284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9056" y="29718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Gestores de infraestrutura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540496" y="352044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 de visão de tendência e risco de OLA para decidir onde agir.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343400"/>
            <a:ext cx="11018520" cy="137160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91440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esses usuários precisam: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05840" y="4800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problemas operacionais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 err="1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alocação das equipes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impactos e o risco de quebra de OLA nos serviços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BE0606">
                  <a:shade val="30000"/>
                  <a:satMod val="115000"/>
                </a:srgbClr>
              </a:gs>
              <a:gs pos="50000">
                <a:srgbClr val="BE0606">
                  <a:shade val="67500"/>
                  <a:satMod val="115000"/>
                </a:srgbClr>
              </a:gs>
              <a:gs pos="100000">
                <a:srgbClr val="BE0606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E06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Proposta de solução e evolução</a:t>
            </a:r>
            <a:endParaRPr lang="en-US" sz="2800" dirty="0">
              <a:solidFill>
                <a:srgbClr val="BE0606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AlertOpsLite é uma ferramenta de AIOps que analisa o histórico de incidentes, prevê o volume futuro e sinaliza riscos operacionais — entregando previsões e alertas práticos para a operação.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48716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5968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054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</a:t>
            </a:r>
            <a:r>
              <a:rPr lang="en-US" sz="1600" b="1" dirty="0">
                <a:solidFill>
                  <a:srgbClr val="6B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— ideação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306324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incidentes por período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tendência simples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básicas ("alta chance amanhã")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definição de arquitetura ou tecnologias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tratamento de OLA / KPI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22860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0" y="2286000"/>
            <a:ext cx="5440680" cy="82296"/>
          </a:xfrm>
          <a:prstGeom prst="rect">
            <a:avLst/>
          </a:prstGeom>
          <a:solidFill>
            <a:srgbClr val="BE0606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Shape 10"/>
          <p:cNvSpPr/>
          <p:nvPr/>
        </p:nvSpPr>
        <p:spPr>
          <a:xfrm>
            <a:off x="6446520" y="2505456"/>
            <a:ext cx="457200" cy="457200"/>
          </a:xfrm>
          <a:prstGeom prst="ellipse">
            <a:avLst/>
          </a:prstGeom>
          <a:solidFill>
            <a:srgbClr val="BE060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6151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25237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— evolução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6492240" y="306324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volume D+1 e D+7 (P2 e P3)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risco de quebra de OLA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definida em stack Python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via n8n + Python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Painel/relatório interativo (Plotly)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escopo evoluiu de uma análise descritiva simples para uma solução preditiva completa, mantendo o princípio de ser leve e acessível.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0EA5A4">
                  <a:shade val="30000"/>
                  <a:satMod val="115000"/>
                </a:srgbClr>
              </a:gs>
              <a:gs pos="50000">
                <a:srgbClr val="0EA5A4">
                  <a:shade val="67500"/>
                  <a:satMod val="115000"/>
                </a:srgbClr>
              </a:gs>
              <a:gs pos="100000">
                <a:srgbClr val="0EA5A4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exploratória — visão geral</a:t>
            </a:r>
            <a:endParaRPr lang="en-US" sz="2800" dirty="0">
              <a:solidFill>
                <a:srgbClr val="0EA5A4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642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de incidentes por mês (2023–2025)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2011680"/>
          <a:ext cx="63093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360920" y="1554480"/>
            <a:ext cx="4297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58952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Incidentes por prioridade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7452360" y="205740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Shape 7"/>
          <p:cNvSpPr/>
          <p:nvPr/>
        </p:nvSpPr>
        <p:spPr>
          <a:xfrm>
            <a:off x="640080" y="4526280"/>
            <a:ext cx="11018520" cy="1325880"/>
          </a:xfrm>
          <a:prstGeom prst="roundRect">
            <a:avLst>
              <a:gd name="adj" fmla="val 5517"/>
            </a:avLst>
          </a:prstGeom>
          <a:solidFill>
            <a:srgbClr val="12152E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914400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Principais achados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14400" y="49560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só se estabiliza a partir do fim de 2024 — 2023 é um período de ramp-up com poucos registros.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(Média) e P2 (Alta) concentram os incidentes relevantes; P1 tem apenas 1 registro e P5 é residual.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modelagem usará o período estável recente, com foco obrigatório em P2 e P3.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0EA5A4">
                  <a:shade val="30000"/>
                  <a:satMod val="115000"/>
                </a:srgbClr>
              </a:gs>
              <a:gs pos="50000">
                <a:srgbClr val="0EA5A4">
                  <a:shade val="67500"/>
                  <a:satMod val="115000"/>
                </a:srgbClr>
              </a:gs>
              <a:gs pos="100000">
                <a:srgbClr val="0EA5A4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exploratória — padrões e qualidade</a:t>
            </a:r>
            <a:endParaRPr lang="en-US" sz="2800" dirty="0">
              <a:solidFill>
                <a:srgbClr val="0EA5A4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Sazonalidade por dia da semana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2057400"/>
          <a:ext cx="52120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155448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9224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KPI: elegíveis vs. violações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355080" y="2011680"/>
          <a:ext cx="29260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923544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25.600
</a:t>
            </a:r>
            <a:r>
              <a:rPr lang="en-US" sz="11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elegíveis ao KPI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923544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
</a:t>
            </a:r>
            <a:r>
              <a:rPr lang="en-US" sz="11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violações de OLA (≈1%)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40080" y="4526280"/>
            <a:ext cx="11018520" cy="1325880"/>
          </a:xfrm>
          <a:prstGeom prst="roundRect">
            <a:avLst>
              <a:gd name="adj" fmla="val 5517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91440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Desafios de qualidade dos dados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" y="49560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de monitoramento: 85% vêm de monitoramento e 66% são "Sem Intervenção" — precisam ser filtrados.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com ~64% de nulos (Produto, Categoria, Subcategoria) exigem tratamento e engenharia de features.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desbalanceamento de classe (≈1% de violações) será tratado com class weights / reamostragem.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da solução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5F6FB"/>
          </a:solidFill>
          <a:ln w="15875">
            <a:solidFill>
              <a:srgbClr val="6B7088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496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Fonte de dados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ITSM histórico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1737360"/>
            <a:ext cx="84124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7030A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3375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Hostinger · Docker + EasyPanel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83280" y="228600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15875">
            <a:solidFill>
              <a:srgbClr val="4338CA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Pydantic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228600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E1F5F4"/>
          </a:solidFill>
          <a:ln w="15875">
            <a:solidFill>
              <a:srgbClr val="0EA5A4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9496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949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06640" y="228600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15875">
            <a:solidFill>
              <a:srgbClr val="4338CA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0664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ML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0664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418320" y="2286000"/>
            <a:ext cx="1874520" cy="1280160"/>
          </a:xfrm>
          <a:prstGeom prst="roundRect">
            <a:avLst>
              <a:gd name="adj" fmla="val 5000"/>
            </a:avLst>
          </a:prstGeom>
          <a:solidFill>
            <a:srgbClr val="FBEAE5"/>
          </a:solidFill>
          <a:ln w="15875">
            <a:solidFill>
              <a:srgbClr val="E8593C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418320" y="24505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Plotly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418320" y="2834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HTML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406640" y="452628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FCF1DC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06640" y="4690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40664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418320" y="452628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BEAE5"/>
          </a:solidFill>
          <a:ln w="15875">
            <a:solidFill>
              <a:srgbClr val="E8593C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418320" y="46908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418320" y="5074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HTML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788920" y="2788920"/>
            <a:ext cx="57607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212080" y="2926080"/>
            <a:ext cx="16459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223760" y="2926080"/>
            <a:ext cx="16459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235440" y="2926080"/>
            <a:ext cx="164592" cy="0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321040" y="3566160"/>
            <a:ext cx="0" cy="941832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10360152" y="3566160"/>
            <a:ext cx="0" cy="941832"/>
          </a:xfrm>
          <a:prstGeom prst="line">
            <a:avLst/>
          </a:prstGeom>
          <a:noFill/>
          <a:ln w="19050">
            <a:solidFill>
              <a:srgbClr val="6B708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40080" y="5641848"/>
            <a:ext cx="11018520" cy="731520"/>
          </a:xfrm>
          <a:prstGeom prst="roundRect">
            <a:avLst>
              <a:gd name="adj" fmla="val 11111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914400" y="5669279"/>
            <a:ext cx="1046988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 </a:t>
            </a: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entram pela API (validados com Pydantic), são persistidos no PostgreSQL, tratados com Pandas e processados pelo modelo; os resultados alimentam o painel Plotly e disparam alertas via n8n.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Descrição da arquitetura</a:t>
            </a:r>
            <a:endParaRPr lang="en-US" sz="2800" dirty="0">
              <a:solidFill>
                <a:srgbClr val="404040"/>
              </a:solidFill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86740" y="1289304"/>
          <a:ext cx="11018520" cy="499262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Camada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Tecnologia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Papel na solução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Hospedagem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VPS </a:t>
                      </a:r>
                      <a:r>
                        <a:rPr lang="en-US" sz="1200" b="1" dirty="0" err="1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Hostinger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Ambiente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cloud para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infraestrutura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do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projeto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.</a:t>
                      </a: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20507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Docker + </a:t>
                      </a:r>
                      <a:r>
                        <a:rPr lang="en-US" sz="1200" b="1" dirty="0" err="1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EasyPanel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 e orquestra todos os serviços em um único servidor.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49729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Ingestão &amp;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FastAPI + Pydantic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Expõe os endpoints e valida/sanitiza os dados de entrada (tipos corretos).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PostgreSQL + SQLAlchemy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 os incidentes tratados e os resultados das previsões.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Pandas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Limpeza, agregação e engenharia de features a partir do histórico.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scikit-learn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volume D+1/D+7 e classificação de risco de OLA.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Plotly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 o relatório e o painel operacional como HTML interativo.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n8n</a:t>
                      </a:r>
                      <a:endParaRPr lang="en-US" sz="1200" dirty="0">
                        <a:solidFill>
                          <a:srgbClr val="404040"/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 alertas (e-mail/Telegram) em picos e riscos de OLA.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92223A">
                  <a:shade val="30000"/>
                  <a:satMod val="115000"/>
                </a:srgbClr>
              </a:gs>
              <a:gs pos="50000">
                <a:srgbClr val="92223A">
                  <a:shade val="67500"/>
                  <a:satMod val="115000"/>
                </a:srgbClr>
              </a:gs>
              <a:gs pos="100000">
                <a:srgbClr val="92223A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2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100" dirty="0">
              <a:solidFill>
                <a:srgbClr val="92223A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22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Abordagem de modelagem</a:t>
            </a:r>
            <a:endParaRPr lang="en-US" sz="2800" dirty="0">
              <a:solidFill>
                <a:srgbClr val="92223A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19979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Previsão D+1 e D+7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41248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incidentes (P2 e P3) com features de calendário e lag.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483864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12464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908" y="19979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85032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de OLA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685032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de violação com tratamento de desbalanceamento.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27648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56248" y="1874520"/>
            <a:ext cx="548640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19979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28816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Clusterização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528816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categorias e produtos com padrões recorrentes (KMeans).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171432" y="164592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400032" y="1874520"/>
            <a:ext cx="548640" cy="548640"/>
          </a:xfrm>
          <a:prstGeom prst="ellipse">
            <a:avLst/>
          </a:prstGeom>
          <a:solidFill>
            <a:srgbClr val="92223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3476" y="199796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72600" y="2542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Explicabilidade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372600" y="30632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de variáveis para justificar as previsões ao gestor.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3977640"/>
            <a:ext cx="11018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686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 de previsão de volume — ilustrativo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68680" y="4069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 +  projeção D+1 a D+7</a:t>
            </a:r>
            <a:endParaRPr lang="en-US" sz="10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777240" y="4389120"/>
          <a:ext cx="106984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F23237">
                  <a:shade val="30000"/>
                  <a:satMod val="115000"/>
                </a:srgbClr>
              </a:gs>
              <a:gs pos="50000">
                <a:srgbClr val="F23237">
                  <a:shade val="67500"/>
                  <a:satMod val="115000"/>
                </a:srgbClr>
              </a:gs>
              <a:gs pos="100000">
                <a:srgbClr val="F23237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</a:t>
            </a:r>
            <a:endParaRPr lang="en-US" sz="1100" dirty="0">
              <a:solidFill>
                <a:srgbClr val="F23237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32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Protótipo — painel operacional</a:t>
            </a:r>
            <a:endParaRPr lang="en-US" sz="2800" dirty="0">
              <a:solidFill>
                <a:srgbClr val="F23237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74523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00200"/>
            <a:ext cx="7452360" cy="384048"/>
          </a:xfrm>
          <a:prstGeom prst="rect">
            <a:avLst/>
          </a:prstGeom>
          <a:solidFill>
            <a:srgbClr val="12152E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1737360"/>
            <a:ext cx="109728" cy="109728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17373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1207008" y="1737360"/>
            <a:ext cx="109728" cy="109728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1600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 · Painel operacional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2148840"/>
            <a:ext cx="2212848" cy="96012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240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D+1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1.150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05840" y="2880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27832" y="2148840"/>
            <a:ext cx="2212848" cy="96012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2240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D+7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364992" y="247802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8.420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3364992" y="2880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86984" y="2148840"/>
            <a:ext cx="2212848" cy="96012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24144" y="2240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OLA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24144" y="247802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32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ALTO</a:t>
            </a:r>
            <a:endParaRPr lang="en-US" sz="2400" dirty="0">
              <a:solidFill>
                <a:srgbClr val="F23237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24144" y="2880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Team14</a:t>
            </a:r>
            <a:endParaRPr lang="en-US" sz="9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822960" y="3291840"/>
          <a:ext cx="42976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1"/>
          <p:cNvGraphicFramePr/>
          <p:nvPr/>
        </p:nvGraphicFramePr>
        <p:xfrm>
          <a:off x="5212080" y="3291840"/>
          <a:ext cx="26974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Shape 21"/>
          <p:cNvSpPr/>
          <p:nvPr/>
        </p:nvSpPr>
        <p:spPr>
          <a:xfrm>
            <a:off x="8275320" y="160020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50392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32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</a:t>
            </a:r>
            <a:endParaRPr lang="en-US" sz="1400" dirty="0">
              <a:solidFill>
                <a:srgbClr val="F23237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8503920" y="21945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HTML gerado com Plotly e servido pela FastAPI.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de KPI mostram as previsões D+1/D+7 e o risco de OLA.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interativos de volume previsto e risco por equipe.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gestor (visão executiva) e operação (detalhe por equipe).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rgbClr val="229ED9">
                  <a:shade val="30000"/>
                  <a:satMod val="115000"/>
                </a:srgbClr>
              </a:gs>
              <a:gs pos="50000">
                <a:srgbClr val="229ED9">
                  <a:shade val="67500"/>
                  <a:satMod val="115000"/>
                </a:srgbClr>
              </a:gs>
              <a:gs pos="100000">
                <a:srgbClr val="229ED9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Protótipo — alertas automáticos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detecta um pico previsto ou alto risco de OLA, o Python aciona o n8n, que envia o alerta pelos canais da operação.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395728"/>
            <a:ext cx="457200" cy="457200"/>
          </a:xfrm>
          <a:prstGeom prst="ellipse">
            <a:avLst/>
          </a:prstGeom>
          <a:solidFill>
            <a:srgbClr val="229ED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5054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→ Telegram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68680" y="3017520"/>
            <a:ext cx="4892040" cy="2240280"/>
          </a:xfrm>
          <a:prstGeom prst="roundRect">
            <a:avLst>
              <a:gd name="adj" fmla="val 2857"/>
            </a:avLst>
          </a:prstGeom>
          <a:solidFill>
            <a:srgbClr val="E1F5F4"/>
          </a:solidFill>
          <a:ln w="9525">
            <a:solidFill>
              <a:srgbClr val="B9E4E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7280" y="32004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AlertOpsLite — alerta operacional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previsto para amanhã (D+1)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P2+P3: ~1.150 (+18% vs. média)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OLA ALTO na equipe Team14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reforçar plantão no período da manhã.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09360" y="21945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37960" y="23957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523744"/>
            <a:ext cx="219456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→ E-mail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537960" y="3017520"/>
            <a:ext cx="48920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66560" y="31546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operacoes-ti@locaweb.com.br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Assunto: [AlertOpsLite] Risco operacional D+1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66560" y="3840480"/>
            <a:ext cx="4434840" cy="0"/>
          </a:xfrm>
          <a:prstGeom prst="line">
            <a:avLst/>
          </a:prstGeom>
          <a:noFill/>
          <a:ln w="9525">
            <a:solidFill>
              <a:srgbClr val="E4E6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66560" y="397764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D+7 acima da meta para P3.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críticas: cat71, cat77.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Recomenda-se ação preventiva nas equipes mais carregadas.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textos são exemplos ilustrativos do conteúdo gerado automaticamente.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ágil do projeto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Adotamos o framework Scrum, com entregas incrementais a cada sprint do Challenge.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88720" y="2468880"/>
            <a:ext cx="10058400" cy="0"/>
          </a:xfrm>
          <a:prstGeom prst="line">
            <a:avLst/>
          </a:prstGeom>
          <a:noFill/>
          <a:ln w="25400">
            <a:solidFill>
              <a:srgbClr val="E4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27/04/2026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03320" y="2286000"/>
            <a:ext cx="365760" cy="3657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0"/>
          <p:cNvSpPr/>
          <p:nvPr/>
        </p:nvSpPr>
        <p:spPr>
          <a:xfrm>
            <a:off x="32461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461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24/05/2026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546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2286000"/>
            <a:ext cx="365760" cy="365760"/>
          </a:xfrm>
          <a:prstGeom prst="ellipse">
            <a:avLst/>
          </a:prstGeom>
          <a:solidFill>
            <a:srgbClr val="6B70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607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23/08/2026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preliminar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32520" y="2286000"/>
            <a:ext cx="365760" cy="365760"/>
          </a:xfrm>
          <a:prstGeom prst="ellipse">
            <a:avLst/>
          </a:prstGeom>
          <a:solidFill>
            <a:srgbClr val="6B70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53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53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18388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final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8872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e 2 entregues   ·   Sprints 3 e 4 planejadas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Divisão de responsabilidades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640080" y="4434840"/>
          <a:ext cx="11018520" cy="1920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Integrante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Frente principal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Entregas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Marcos Machado (Representante)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e modelagem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EDA, engenharia de features, modelo (Pandas/scikit-learn), FastAPI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Matheus Machado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e visualização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Docker/EasyPanel/VPS, n8n e alertas, painel Plotly, documentação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Ambos</a:t>
                      </a:r>
                      <a:endParaRPr lang="en-US" sz="115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Storytelling executivo, revisão das entregas e vídeo pitch (Sprint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8" name="Text 5"/>
          <p:cNvSpPr/>
          <p:nvPr/>
        </p:nvSpPr>
        <p:spPr>
          <a:xfrm>
            <a:off x="914400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37360" y="1965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Preparar a base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03504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e tratar o dataset no PostgreSQL, filtrando o ruído de monitoramento.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03580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737360" y="3017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 o pipeline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035040" y="3017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Pandas para ingestão, features e treino dos modelos.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88620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4087368"/>
            <a:ext cx="566928" cy="566928"/>
          </a:xfrm>
          <a:prstGeom prst="ellipse">
            <a:avLst/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737360" y="4069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preliminar (Sprint 3)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035040" y="40690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D+1/D+7 e risco de OLA validados com código-fonte.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93776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blurRad="114300" dist="38100" dir="8100000" algn="bl" rotWithShape="0">
              <a:srgbClr val="1E2236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4400" y="5138928"/>
            <a:ext cx="566928" cy="566928"/>
          </a:xfrm>
          <a:prstGeom prst="ellipse">
            <a:avLst/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737360" y="5120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Solução final (Sprint 4)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035040" y="51206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Plotly, alertas via n8n e pitch da solução em funcionamento.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152E"/>
            </a:gs>
            <a:gs pos="57000">
              <a:schemeClr val="tx2">
                <a:lumMod val="50000"/>
              </a:schemeClr>
            </a:gs>
            <a:gs pos="100000">
              <a:srgbClr val="1215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4206240" cy="4206240"/>
          </a:xfrm>
          <a:prstGeom prst="ellipse">
            <a:avLst/>
          </a:prstGeom>
          <a:solidFill>
            <a:srgbClr val="4338C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371600"/>
            <a:ext cx="3657600" cy="3657600"/>
          </a:xfrm>
          <a:prstGeom prst="ellipse">
            <a:avLst/>
          </a:prstGeom>
          <a:solidFill>
            <a:srgbClr val="0EA5A4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96112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AlertOpsLite — antecipar incidentes para uma operação mais previsível.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54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grupo_irmaos  ·  Turma 2TSCOA  ·  Challenge Locaweb / FIAP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Machado (RM566099)   ·   Matheus Machado (RM564991)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1436</Words>
  <Application>Microsoft Office PowerPoint</Application>
  <PresentationFormat>Widescreen</PresentationFormat>
  <Paragraphs>258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Trebuchet MS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Machado</dc:creator>
  <cp:lastModifiedBy>Matheus Machado</cp:lastModifiedBy>
  <cp:revision>1</cp:revision>
  <dcterms:created xsi:type="dcterms:W3CDTF">2026-05-25T02:20:26Z</dcterms:created>
  <dcterms:modified xsi:type="dcterms:W3CDTF">2026-05-25T02:23:03Z</dcterms:modified>
</cp:coreProperties>
</file>